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ato" charset="0"/>
      <p:regular r:id="rId13"/>
      <p:bold r:id="rId14"/>
      <p:italic r:id="rId15"/>
      <p:boldItalic r:id="rId16"/>
    </p:embeddedFont>
    <p:embeddedFont>
      <p:font typeface="Urbanist" charset="0"/>
      <p:regular r:id="rId17"/>
      <p:bold r:id="rId18"/>
      <p:italic r:id="rId19"/>
      <p:boldItalic r:id="rId20"/>
    </p:embeddedFont>
    <p:embeddedFont>
      <p:font typeface="Calibri" pitchFamily="34" charset="0"/>
      <p:regular r:id="rId21"/>
      <p:bold r:id="rId22"/>
      <p:italic r:id="rId23"/>
      <p:boldItalic r:id="rId24"/>
    </p:embeddedFont>
    <p:embeddedFont>
      <p:font typeface="JetBrains Mono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894E0FF-E376-42FE-B808-CF7FDD489F0A}">
  <a:tblStyle styleId="{5894E0FF-E376-42FE-B808-CF7FDD489F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-5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05125" y="1871662"/>
            <a:ext cx="6381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D3EE"/>
                </a:solidFill>
                <a:latin typeface="Lato"/>
                <a:ea typeface="Lato"/>
                <a:cs typeface="Lato"/>
                <a:sym typeface="Lato"/>
              </a:rPr>
              <a:t>APPENDIX: TOPOLOGICAL CONVERGENCE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45581" y="2443162"/>
            <a:ext cx="670083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4D → 2D </a:t>
            </a:r>
            <a:r>
              <a:rPr lang="en-US" sz="60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Moebius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Holography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05125" y="4157662"/>
            <a:ext cx="6381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Lato"/>
                <a:ea typeface="Lato"/>
                <a:cs typeface="Lato"/>
                <a:sym typeface="Lato"/>
              </a:rPr>
              <a:t>Collective Mode Shifts and Serpentine Waveguide Architectures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05125" y="4976812"/>
            <a:ext cx="6381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855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WavePhysAI Theoretical Framework •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35993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540793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Holographic Projection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3102768"/>
            <a:ext cx="5276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High-dimensional topological singularities are projected onto the 2D Graphene–hBN manifold. The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Collective Mode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acts as the high-dimensional carrier.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245518"/>
            <a:ext cx="26289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47725" y="4150518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4150518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4D Space: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Time-evolution of topological phase maps.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7725" y="4436268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4436268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3D Mapping: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Bulk-edge correspondence simulation.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7725" y="4722018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4722018"/>
            <a:ext cx="4895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2D Manifold: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Surface plasmon interference patterns acting as the computing substrate.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928836"/>
            <a:ext cx="1134141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4D → 3D → 2D Convergence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322423" y="2220686"/>
            <a:ext cx="5286103" cy="3640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39156"/>
            <a:ext cx="11029950" cy="90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685430"/>
            <a:ext cx="52768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685430"/>
            <a:ext cx="52768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824906"/>
            <a:ext cx="10401300" cy="33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76300" y="3980705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Lato"/>
                <a:ea typeface="Lato"/>
                <a:cs typeface="Lato"/>
                <a:sym typeface="Lato"/>
              </a:rPr>
              <a:t>Stochastic Particle (x,y)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76300" y="4495055"/>
            <a:ext cx="46863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Individual electron trajectories suffer from thermal noise and Heisenberg uncertainty, limiting gate fidelity.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629400" y="3980705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Lato"/>
                <a:ea typeface="Lato"/>
                <a:cs typeface="Lato"/>
                <a:sym typeface="Lato"/>
              </a:rPr>
              <a:t>Collective Plasmon (x,Q)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29400" y="4495055"/>
            <a:ext cx="46863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Ensemble dynamics shift uncertainty to the global phase-space. Trades spatial localization for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Phase Determinism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09625" y="928836"/>
            <a:ext cx="1134141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Heisenberg Shift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35993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245518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334125" y="2540793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Phase Flip Dynamics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334125" y="3102768"/>
            <a:ext cx="52768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Moebius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boundary condition forces a </a:t>
            </a:r>
            <a:r>
              <a:rPr lang="en-US" sz="1500" b="0" i="0" u="none" strike="noStrike" cap="none" dirty="0" smtClean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pi 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phase inversion at the structural half-period.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334125" y="4693443"/>
            <a:ext cx="5276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This creates a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Topological Filter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that exclusively permits odd-numbered collective modes, significantly increasing output contrast.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4055268"/>
            <a:ext cx="4838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09625" y="928836"/>
            <a:ext cx="1134141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Virtual Moebius Topology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35993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81025" y="2540793"/>
            <a:ext cx="554069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2D → 1D Compression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81025" y="3112293"/>
            <a:ext cx="5276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serpentine path forces wave propagation along a quasi-1D manifold while maintaining 2D interference capabilities.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245518"/>
            <a:ext cx="23622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47725" y="3874293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62025" y="3874293"/>
            <a:ext cx="48958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Path Accumulation: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smtClean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phi 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= \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k(s) </a:t>
            </a:r>
            <a:r>
              <a:rPr lang="en-US" sz="1500" b="0" i="0" u="none" strike="noStrike" cap="none" dirty="0" err="1" smtClean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ds</a:t>
            </a:r>
            <a:r>
              <a:rPr lang="en-US" sz="1500" b="0" i="0" u="none" strike="noStrike" cap="none" dirty="0" smtClean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47725" y="4160043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62025" y="4160043"/>
            <a:ext cx="4895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Mode Filtering: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High-curvature sections damp high-energy noise.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47725" y="4731543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62025" y="4731543"/>
            <a:ext cx="4895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Virtual Length: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Structural compression for sub-wavelength neuromorphic cores.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09625" y="928836"/>
            <a:ext cx="1134141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2D Serpentine Architecture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339841" y="2255521"/>
            <a:ext cx="5251268" cy="3605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81025" y="5331618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*Python solver identifies the optimal "Focusing Spot" for COMSOL validation probes.</a:t>
            </a:r>
            <a:endParaRPr/>
          </a:p>
        </p:txBody>
      </p:sp>
      <p:graphicFrame>
        <p:nvGraphicFramePr>
          <p:cNvPr id="157" name="Google Shape;157;p18"/>
          <p:cNvGraphicFramePr/>
          <p:nvPr/>
        </p:nvGraphicFramePr>
        <p:xfrm>
          <a:off x="581025" y="2283618"/>
          <a:ext cx="11029975" cy="2809875"/>
        </p:xfrm>
        <a:graphic>
          <a:graphicData uri="http://schemas.openxmlformats.org/drawingml/2006/table">
            <a:tbl>
              <a:tblPr firstRow="1" bandRow="1">
                <a:noFill/>
                <a:tableStyleId>{5894E0FF-E376-42FE-B808-CF7FDD489F0A}</a:tableStyleId>
              </a:tblPr>
              <a:tblGrid>
                <a:gridCol w="3223325"/>
                <a:gridCol w="3525450"/>
                <a:gridCol w="4281200"/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Analytical (Python)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Multiphysics (COMSOL)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Wave Physics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Scalar Approximation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Full </a:t>
                      </a: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Vectorial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Maxwell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Moebius Effect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Shift Boundary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Floquet</a:t>
                      </a: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Periodic BC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Computation 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Instant (Real-time)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(Hours/Days)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Spatial 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Analytical Continuous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Finite Element Mesh (10nm)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18"/>
          <p:cNvSpPr/>
          <p:nvPr/>
        </p:nvSpPr>
        <p:spPr>
          <a:xfrm>
            <a:off x="581025" y="2831306"/>
            <a:ext cx="32233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3804344" y="2831306"/>
            <a:ext cx="352544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7329785" y="2831306"/>
            <a:ext cx="42811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81025" y="3393281"/>
            <a:ext cx="32233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3804344" y="3393281"/>
            <a:ext cx="352544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7329785" y="3393281"/>
            <a:ext cx="42811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81025" y="3955256"/>
            <a:ext cx="32233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3804344" y="3955256"/>
            <a:ext cx="352544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7329785" y="3955256"/>
            <a:ext cx="42811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81025" y="4517231"/>
            <a:ext cx="32233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804344" y="4517231"/>
            <a:ext cx="352544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329785" y="4517231"/>
            <a:ext cx="42811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81025" y="5079206"/>
            <a:ext cx="322331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3804344" y="5079206"/>
            <a:ext cx="352544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329785" y="5079206"/>
            <a:ext cx="42811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809625" y="928836"/>
            <a:ext cx="1134141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Python vs. COMSOL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2175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21755"/>
            <a:ext cx="5276850" cy="524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143128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6334125" y="1726555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Output Sharpness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334125" y="2288530"/>
            <a:ext cx="5276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Moebius + Serpentine filtering removes stochastic noise, resulting in extreme field confinement.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334125" y="5908030"/>
            <a:ext cx="5276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Focusing resolution reaches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&lt;100nm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using 10μm wavelength IR sources.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09625" y="535930"/>
            <a:ext cx="1134141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Sub-wavelength Focusing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581025" y="535930"/>
            <a:ext cx="76200" cy="5048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36031"/>
            <a:ext cx="1102995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923925" y="3021806"/>
            <a:ext cx="103917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"Develop a **</a:t>
            </a:r>
            <a:r>
              <a:rPr lang="en-US" sz="1500" b="0" i="0" u="none" strike="noStrike" cap="none" dirty="0" err="1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Lagrangian</a:t>
            </a:r>
            <a:r>
              <a:rPr lang="en-US" sz="1500" b="0" i="0" u="none" strike="noStrike" cap="none" dirty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solver** for a </a:t>
            </a:r>
            <a:r>
              <a:rPr lang="en-US" sz="1500" b="0" i="0" u="none" strike="noStrike" cap="none" dirty="0" err="1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Graphene</a:t>
            </a:r>
            <a:r>
              <a:rPr lang="en-US" sz="1500" b="0" i="0" u="none" strike="noStrike" cap="none" dirty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Plasmon system on a **Serpentine path** </a:t>
            </a:r>
            <a:r>
              <a:rPr lang="en-US" sz="1500" b="0" i="0" u="none" strike="noStrike" cap="none" dirty="0" smtClean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y(x</a:t>
            </a:r>
            <a:r>
              <a:rPr lang="en-US" sz="1500" b="0" i="0" u="none" strike="noStrike" cap="none" dirty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= A \sin(</a:t>
            </a:r>
            <a:r>
              <a:rPr lang="en-US" sz="1500" b="0" i="0" u="none" strike="noStrike" cap="none" dirty="0" err="1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Bx</a:t>
            </a:r>
            <a:r>
              <a:rPr lang="en-US" sz="1500" b="0" i="0" u="none" strike="noStrike" cap="none" dirty="0" smtClean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 </a:t>
            </a:r>
            <a:r>
              <a:rPr lang="en-US" sz="1500" b="0" i="0" u="none" strike="noStrike" cap="none" dirty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Apply **</a:t>
            </a:r>
            <a:r>
              <a:rPr lang="en-US" sz="1500" b="0" i="0" u="none" strike="noStrike" cap="none" dirty="0" err="1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Moebius</a:t>
            </a:r>
            <a:r>
              <a:rPr lang="en-US" sz="1500" b="0" i="0" u="none" strike="noStrike" cap="none" dirty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Boundary Conditions** </a:t>
            </a:r>
            <a:r>
              <a:rPr lang="en-US" sz="1500" b="0" i="0" u="none" strike="noStrike" cap="none" dirty="0" smtClean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\</a:t>
            </a:r>
            <a:r>
              <a:rPr lang="en-US" sz="1500" b="0" i="0" u="none" strike="noStrike" cap="none" dirty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psi(</a:t>
            </a:r>
            <a:r>
              <a:rPr lang="en-US" sz="1500" b="0" i="0" u="none" strike="noStrike" cap="none" dirty="0" err="1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x+L</a:t>
            </a:r>
            <a:r>
              <a:rPr lang="en-US" sz="1500" b="0" i="0" u="none" strike="noStrike" cap="none" dirty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)=-\psi(x</a:t>
            </a:r>
            <a:r>
              <a:rPr lang="en-US" sz="1500" b="0" i="0" u="none" strike="noStrike" cap="none" dirty="0" smtClean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). </a:t>
            </a:r>
            <a:r>
              <a:rPr lang="en-US" sz="1500" b="0" i="0" u="none" strike="noStrike" cap="none" dirty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Solve for the **Collective Mode** intensity distribution. Compare spatial interference contrasts between **Periodic vs. </a:t>
            </a:r>
            <a:r>
              <a:rPr lang="en-US" sz="1500" b="0" i="0" u="none" strike="noStrike" cap="none" dirty="0" err="1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Moebius</a:t>
            </a:r>
            <a:r>
              <a:rPr lang="en-US" sz="1500" b="0" i="0" u="none" strike="noStrike" cap="none" dirty="0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** topologies for sub-wavelength focusing."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81025" y="5079206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Optimize UV pulse parameters for maximal holographic contrast in the XOR logic gate configuration.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09625" y="928836"/>
            <a:ext cx="1134141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 Prompt Architecture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3730704" y="2457450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3843337" y="4004220"/>
            <a:ext cx="45053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Lato"/>
                <a:ea typeface="Lato"/>
                <a:cs typeface="Lato"/>
                <a:sym typeface="Lato"/>
              </a:rPr>
              <a:t>Exploring the Quantum Collective Horizon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3843337" y="4823370"/>
            <a:ext cx="45053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www.wavephysai.io | Redefining Intelligence through Physics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581025" y="2507456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581025" y="3278981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81025" y="4050506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81025" y="326945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81025" y="326945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81025" y="404098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81025" y="404098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81025" y="481250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581025" y="481250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503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1676400" y="2657475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https://opg.optica.org/getThumbnail.cfm?uri=ome-15-7-1544&amp;size=200&amp;o=y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676400" y="2890837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opg.optica.org</a:t>
            </a:r>
            <a:endParaRPr/>
          </a:p>
        </p:txBody>
      </p:sp>
      <p:pic>
        <p:nvPicPr>
          <p:cNvPr id="223" name="Google Shape;22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421856"/>
            <a:ext cx="18002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1676400" y="3429000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https://quantumzeitgeist.com/wp-content/smush-webp/Capture-211.png.webp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1676400" y="3662362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quantumzeitgeist.com</a:t>
            </a:r>
            <a:endParaRPr/>
          </a:p>
        </p:txBody>
      </p:sp>
      <p:pic>
        <p:nvPicPr>
          <p:cNvPr id="226" name="Google Shape;22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933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1676400" y="4200525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https://pubs.rsc.org/image/article/2023/CP/d3cp00572k/d3cp00572k-f1_hi-res.gif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676400" y="4433887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pubs.rsc.org</a:t>
            </a:r>
            <a:endParaRPr/>
          </a:p>
        </p:txBody>
      </p:sp>
      <p:pic>
        <p:nvPicPr>
          <p:cNvPr id="229" name="Google Shape;22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9649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1676400" y="4972050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https://cdn.comsol.com/wordpress/sites/1/2022/07/dispersion-curves-line-plot-1024x754.png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1676400" y="5205412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www.comsol.com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09625" y="928836"/>
            <a:ext cx="1134141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81025" y="928836"/>
            <a:ext cx="76200" cy="5048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430</Words>
  <PresentationFormat>사용자 지정</PresentationFormat>
  <Paragraphs>67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굴림</vt:lpstr>
      <vt:lpstr>Arial</vt:lpstr>
      <vt:lpstr>Lato</vt:lpstr>
      <vt:lpstr>Urbanist</vt:lpstr>
      <vt:lpstr>Calibri</vt:lpstr>
      <vt:lpstr>JetBrains Mono</vt:lpstr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FMRE03</dc:creator>
  <cp:lastModifiedBy>동의의료원</cp:lastModifiedBy>
  <cp:revision>3</cp:revision>
  <dcterms:modified xsi:type="dcterms:W3CDTF">2026-04-30T07:10:34Z</dcterms:modified>
</cp:coreProperties>
</file>